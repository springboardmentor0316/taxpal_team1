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libri (MS)" charset="1" panose="020F0502020204030204"/>
      <p:regular r:id="rId32"/>
    </p:embeddedFont>
    <p:embeddedFont>
      <p:font typeface="Calibri (MS) Bold" charset="1" panose="020F0702030404030204"/>
      <p:regular r:id="rId33"/>
    </p:embeddedFont>
    <p:embeddedFont>
      <p:font typeface="Almarai Bold" charset="1" panose="00000000000000000000"/>
      <p:regular r:id="rId34"/>
    </p:embeddedFont>
    <p:embeddedFont>
      <p:font typeface="Almarai" charset="1" panose="00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5.pn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media/image5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2.jpe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2" Target="../media/image5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5940" y="-491592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57142" t="0" r="-5714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203985" y="3885708"/>
            <a:ext cx="5246522" cy="7495031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/>
              <a:stretch>
                <a:fillRect l="-76984" t="0" r="-7698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44000" y="6196748"/>
            <a:ext cx="2564685" cy="3663835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1428" t="0" r="-2142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57209" t="0" r="-5720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976625" y="4306703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80438" y="6473392"/>
            <a:ext cx="6740470" cy="82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04"/>
              </a:lnSpc>
              <a:spcBef>
                <a:spcPct val="0"/>
              </a:spcBef>
            </a:pPr>
            <a:r>
              <a:rPr lang="en-US" sz="4800" spc="7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Presenting : Team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3763" y="4381564"/>
            <a:ext cx="511425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0"/>
              </a:lnSpc>
            </a:pPr>
            <a:r>
              <a:rPr lang="en-US" sz="10700" b="true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3763" y="2932651"/>
            <a:ext cx="440305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40"/>
              </a:lnSpc>
            </a:pPr>
            <a:r>
              <a:rPr lang="en-US" sz="10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TAXPAL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>
                <a:alphaModFix amt="24000"/>
              </a:blip>
              <a:stretch>
                <a:fillRect l="-57411" t="0" r="-574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70694" y="2873750"/>
            <a:ext cx="1586922" cy="1334733"/>
            <a:chOff x="0" y="0"/>
            <a:chExt cx="2115896" cy="1779644"/>
          </a:xfrm>
        </p:grpSpPr>
        <p:grpSp>
          <p:nvGrpSpPr>
            <p:cNvPr name="Group 11" id="11"/>
            <p:cNvGrpSpPr/>
            <p:nvPr/>
          </p:nvGrpSpPr>
          <p:grpSpPr>
            <a:xfrm rot="5400000">
              <a:off x="169887" y="0"/>
              <a:ext cx="1779644" cy="1779644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89545" y="4541859"/>
            <a:ext cx="1586922" cy="1334733"/>
            <a:chOff x="0" y="0"/>
            <a:chExt cx="2115896" cy="1779644"/>
          </a:xfrm>
        </p:grpSpPr>
        <p:grpSp>
          <p:nvGrpSpPr>
            <p:cNvPr name="Group 15" id="15"/>
            <p:cNvGrpSpPr/>
            <p:nvPr/>
          </p:nvGrpSpPr>
          <p:grpSpPr>
            <a:xfrm rot="5400000">
              <a:off x="327061" y="0"/>
              <a:ext cx="1779644" cy="177964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70694" y="1208122"/>
            <a:ext cx="1586922" cy="1334733"/>
            <a:chOff x="0" y="0"/>
            <a:chExt cx="2115896" cy="1779644"/>
          </a:xfrm>
        </p:grpSpPr>
        <p:grpSp>
          <p:nvGrpSpPr>
            <p:cNvPr name="Group 19" id="19"/>
            <p:cNvGrpSpPr/>
            <p:nvPr/>
          </p:nvGrpSpPr>
          <p:grpSpPr>
            <a:xfrm rot="5400000">
              <a:off x="168126" y="0"/>
              <a:ext cx="1779644" cy="1779644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85595" y="4653079"/>
            <a:ext cx="464692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CONTENT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89545" y="6197077"/>
            <a:ext cx="1586922" cy="1334733"/>
            <a:chOff x="0" y="0"/>
            <a:chExt cx="2115896" cy="1779644"/>
          </a:xfrm>
        </p:grpSpPr>
        <p:grpSp>
          <p:nvGrpSpPr>
            <p:cNvPr name="Group 24" id="24"/>
            <p:cNvGrpSpPr/>
            <p:nvPr/>
          </p:nvGrpSpPr>
          <p:grpSpPr>
            <a:xfrm rot="5400000">
              <a:off x="327061" y="0"/>
              <a:ext cx="1779644" cy="1779644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04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905291" y="1248212"/>
            <a:ext cx="435482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OVERVIEW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05291" y="1937823"/>
            <a:ext cx="709800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Introduction to TaxPal and its mission for freelancers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05291" y="2935327"/>
            <a:ext cx="3295934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TECH STACK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05291" y="3603451"/>
            <a:ext cx="709800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Technologies and frameworks used in development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05291" y="4529254"/>
            <a:ext cx="612544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&amp; FUNCTIONALITY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5291" y="5265114"/>
            <a:ext cx="709800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Core capabilities and user experience highlights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05291" y="6063727"/>
            <a:ext cx="435482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OUTCOMES &amp; IMPACT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05291" y="6926777"/>
            <a:ext cx="709800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Results achieved and user feedback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789545" y="7923567"/>
            <a:ext cx="1586922" cy="1334733"/>
            <a:chOff x="0" y="0"/>
            <a:chExt cx="2115896" cy="1779644"/>
          </a:xfrm>
        </p:grpSpPr>
        <p:grpSp>
          <p:nvGrpSpPr>
            <p:cNvPr name="Group 36" id="36"/>
            <p:cNvGrpSpPr/>
            <p:nvPr/>
          </p:nvGrpSpPr>
          <p:grpSpPr>
            <a:xfrm rot="5400000">
              <a:off x="327061" y="0"/>
              <a:ext cx="1779644" cy="1779644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05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905291" y="7869752"/>
            <a:ext cx="2457737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&amp; Q/N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05291" y="8653267"/>
            <a:ext cx="709800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Meet the team and interactive session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77100" y="3531559"/>
            <a:ext cx="721898" cy="1044852"/>
          </a:xfrm>
          <a:custGeom>
            <a:avLst/>
            <a:gdLst/>
            <a:ahLst/>
            <a:cxnLst/>
            <a:rect r="r" b="b" t="t" l="l"/>
            <a:pathLst>
              <a:path h="1044852" w="721898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796106" y="8350814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t="0" r="-12621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2568464" y="8077527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t="0" r="-12621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5173055" y="-2067064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43175" y="1289120"/>
            <a:ext cx="681172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OVERVIEW 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382444" y="3595151"/>
            <a:ext cx="1361541" cy="1361541"/>
          </a:xfrm>
          <a:custGeom>
            <a:avLst/>
            <a:gdLst/>
            <a:ahLst/>
            <a:cxnLst/>
            <a:rect r="r" b="b" t="t" l="l"/>
            <a:pathLst>
              <a:path h="1361541" w="1361541">
                <a:moveTo>
                  <a:pt x="0" y="0"/>
                </a:moveTo>
                <a:lnTo>
                  <a:pt x="1361541" y="0"/>
                </a:lnTo>
                <a:lnTo>
                  <a:pt x="1361541" y="1361541"/>
                </a:lnTo>
                <a:lnTo>
                  <a:pt x="0" y="1361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744868" y="3507666"/>
            <a:ext cx="1331174" cy="1331174"/>
          </a:xfrm>
          <a:custGeom>
            <a:avLst/>
            <a:gdLst/>
            <a:ahLst/>
            <a:cxnLst/>
            <a:rect r="r" b="b" t="t" l="l"/>
            <a:pathLst>
              <a:path h="1331174" w="1331174">
                <a:moveTo>
                  <a:pt x="0" y="0"/>
                </a:moveTo>
                <a:lnTo>
                  <a:pt x="1331174" y="0"/>
                </a:lnTo>
                <a:lnTo>
                  <a:pt x="1331174" y="1331174"/>
                </a:lnTo>
                <a:lnTo>
                  <a:pt x="0" y="133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03333" y="3612620"/>
            <a:ext cx="1179471" cy="1326604"/>
          </a:xfrm>
          <a:custGeom>
            <a:avLst/>
            <a:gdLst/>
            <a:ahLst/>
            <a:cxnLst/>
            <a:rect r="r" b="b" t="t" l="l"/>
            <a:pathLst>
              <a:path h="1326604" w="1179471">
                <a:moveTo>
                  <a:pt x="0" y="0"/>
                </a:moveTo>
                <a:lnTo>
                  <a:pt x="1179471" y="0"/>
                </a:lnTo>
                <a:lnTo>
                  <a:pt x="1179471" y="1326604"/>
                </a:lnTo>
                <a:lnTo>
                  <a:pt x="0" y="13266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049035" y="3442335"/>
            <a:ext cx="1420398" cy="1420398"/>
          </a:xfrm>
          <a:custGeom>
            <a:avLst/>
            <a:gdLst/>
            <a:ahLst/>
            <a:cxnLst/>
            <a:rect r="r" b="b" t="t" l="l"/>
            <a:pathLst>
              <a:path h="1420398" w="1420398">
                <a:moveTo>
                  <a:pt x="0" y="0"/>
                </a:moveTo>
                <a:lnTo>
                  <a:pt x="1420398" y="0"/>
                </a:lnTo>
                <a:lnTo>
                  <a:pt x="1420398" y="1420398"/>
                </a:lnTo>
                <a:lnTo>
                  <a:pt x="0" y="14203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10122" y="5119607"/>
            <a:ext cx="101905" cy="2559461"/>
            <a:chOff x="0" y="0"/>
            <a:chExt cx="26839" cy="6740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39" cy="674097"/>
            </a:xfrm>
            <a:custGeom>
              <a:avLst/>
              <a:gdLst/>
              <a:ahLst/>
              <a:cxnLst/>
              <a:rect r="r" b="b" t="t" l="l"/>
              <a:pathLst>
                <a:path h="674097" w="26839">
                  <a:moveTo>
                    <a:pt x="0" y="0"/>
                  </a:moveTo>
                  <a:lnTo>
                    <a:pt x="26839" y="0"/>
                  </a:lnTo>
                  <a:lnTo>
                    <a:pt x="26839" y="674097"/>
                  </a:lnTo>
                  <a:lnTo>
                    <a:pt x="0" y="674097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6839" cy="721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91808" y="5684847"/>
            <a:ext cx="2967054" cy="170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To simplify financial management for freelancers and gig workers through automated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36709" y="5081384"/>
            <a:ext cx="2368534" cy="46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MISSIONARY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50545" y="5813708"/>
            <a:ext cx="3041443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Complex tax calculations and poor financial visibility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20039" y="5127649"/>
            <a:ext cx="2052857" cy="46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STRENGTH</a:t>
            </a:r>
            <a:r>
              <a:rPr lang="en-US" sz="27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21757" y="5813708"/>
            <a:ext cx="3137874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Freelancers, gig workers, and independent contractors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54379" y="5081384"/>
            <a:ext cx="1472628" cy="46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TARGET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83902" y="5895791"/>
            <a:ext cx="2954296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Automated tax estimation with real-time financial insights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63828" y="5127649"/>
            <a:ext cx="1058482" cy="46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SKILL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138644" y="5184799"/>
            <a:ext cx="101905" cy="2559461"/>
            <a:chOff x="0" y="0"/>
            <a:chExt cx="26839" cy="6740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839" cy="674097"/>
            </a:xfrm>
            <a:custGeom>
              <a:avLst/>
              <a:gdLst/>
              <a:ahLst/>
              <a:cxnLst/>
              <a:rect r="r" b="b" t="t" l="l"/>
              <a:pathLst>
                <a:path h="674097" w="26839">
                  <a:moveTo>
                    <a:pt x="0" y="0"/>
                  </a:moveTo>
                  <a:lnTo>
                    <a:pt x="26839" y="0"/>
                  </a:lnTo>
                  <a:lnTo>
                    <a:pt x="26839" y="674097"/>
                  </a:lnTo>
                  <a:lnTo>
                    <a:pt x="0" y="674097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6839" cy="721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756496" y="5184799"/>
            <a:ext cx="101905" cy="2559461"/>
            <a:chOff x="0" y="0"/>
            <a:chExt cx="26839" cy="6740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839" cy="674097"/>
            </a:xfrm>
            <a:custGeom>
              <a:avLst/>
              <a:gdLst/>
              <a:ahLst/>
              <a:cxnLst/>
              <a:rect r="r" b="b" t="t" l="l"/>
              <a:pathLst>
                <a:path h="674097" w="26839">
                  <a:moveTo>
                    <a:pt x="0" y="0"/>
                  </a:moveTo>
                  <a:lnTo>
                    <a:pt x="26839" y="0"/>
                  </a:lnTo>
                  <a:lnTo>
                    <a:pt x="26839" y="674097"/>
                  </a:lnTo>
                  <a:lnTo>
                    <a:pt x="0" y="674097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6839" cy="721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722986" y="5138534"/>
            <a:ext cx="101905" cy="2559461"/>
            <a:chOff x="0" y="0"/>
            <a:chExt cx="26839" cy="6740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839" cy="674097"/>
            </a:xfrm>
            <a:custGeom>
              <a:avLst/>
              <a:gdLst/>
              <a:ahLst/>
              <a:cxnLst/>
              <a:rect r="r" b="b" t="t" l="l"/>
              <a:pathLst>
                <a:path h="674097" w="26839">
                  <a:moveTo>
                    <a:pt x="0" y="0"/>
                  </a:moveTo>
                  <a:lnTo>
                    <a:pt x="26839" y="0"/>
                  </a:lnTo>
                  <a:lnTo>
                    <a:pt x="26839" y="674097"/>
                  </a:lnTo>
                  <a:lnTo>
                    <a:pt x="0" y="674097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6839" cy="721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504045" y="5184799"/>
            <a:ext cx="101905" cy="2559461"/>
            <a:chOff x="0" y="0"/>
            <a:chExt cx="26839" cy="6740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839" cy="674097"/>
            </a:xfrm>
            <a:custGeom>
              <a:avLst/>
              <a:gdLst/>
              <a:ahLst/>
              <a:cxnLst/>
              <a:rect r="r" b="b" t="t" l="l"/>
              <a:pathLst>
                <a:path h="674097" w="26839">
                  <a:moveTo>
                    <a:pt x="0" y="0"/>
                  </a:moveTo>
                  <a:lnTo>
                    <a:pt x="26839" y="0"/>
                  </a:lnTo>
                  <a:lnTo>
                    <a:pt x="26839" y="674097"/>
                  </a:lnTo>
                  <a:lnTo>
                    <a:pt x="0" y="674097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6839" cy="721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056254" y="1202778"/>
            <a:ext cx="1586922" cy="1334733"/>
            <a:chOff x="0" y="0"/>
            <a:chExt cx="2115896" cy="1779644"/>
          </a:xfrm>
        </p:grpSpPr>
        <p:grpSp>
          <p:nvGrpSpPr>
            <p:cNvPr name="Group 50" id="50"/>
            <p:cNvGrpSpPr/>
            <p:nvPr/>
          </p:nvGrpSpPr>
          <p:grpSpPr>
            <a:xfrm rot="5400000">
              <a:off x="168126" y="0"/>
              <a:ext cx="1779644" cy="1779644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6575" y="-148957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86637" y="3137453"/>
            <a:ext cx="928944" cy="911914"/>
            <a:chOff x="0" y="0"/>
            <a:chExt cx="1238592" cy="121588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25949"/>
              <a:ext cx="1173371" cy="88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86637" y="4687543"/>
            <a:ext cx="928944" cy="911914"/>
            <a:chOff x="0" y="0"/>
            <a:chExt cx="1238592" cy="121588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125949"/>
              <a:ext cx="1173371" cy="88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86637" y="6237632"/>
            <a:ext cx="928944" cy="911914"/>
            <a:chOff x="0" y="0"/>
            <a:chExt cx="1238592" cy="121588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25949"/>
              <a:ext cx="1173371" cy="88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86637" y="7787722"/>
            <a:ext cx="928944" cy="911914"/>
            <a:chOff x="0" y="0"/>
            <a:chExt cx="1238592" cy="121588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25949"/>
              <a:ext cx="1173371" cy="887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543681" y="1640457"/>
            <a:ext cx="4904260" cy="7006086"/>
            <a:chOff x="0" y="0"/>
            <a:chExt cx="4445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57045" t="0" r="-57045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380053" y="1388184"/>
            <a:ext cx="424574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88469" y="3203838"/>
            <a:ext cx="2350161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MongoDB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86692" y="4755048"/>
            <a:ext cx="2016234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Express.js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86692" y="6353613"/>
            <a:ext cx="1945537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React.js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88469" y="7854106"/>
            <a:ext cx="194376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Node.js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57648" y="1210402"/>
            <a:ext cx="1586922" cy="1334733"/>
            <a:chOff x="0" y="0"/>
            <a:chExt cx="2115896" cy="1779644"/>
          </a:xfrm>
        </p:grpSpPr>
        <p:grpSp>
          <p:nvGrpSpPr>
            <p:cNvPr name="Group 38" id="38"/>
            <p:cNvGrpSpPr/>
            <p:nvPr/>
          </p:nvGrpSpPr>
          <p:grpSpPr>
            <a:xfrm rot="5400000">
              <a:off x="168126" y="0"/>
              <a:ext cx="1779644" cy="1779644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22546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00210" y="2749851"/>
            <a:ext cx="6134277" cy="61342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00210" y="2066886"/>
            <a:ext cx="6134277" cy="61342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979438" y="1447517"/>
            <a:ext cx="947586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FEATURES &amp; FUNCTIONALITY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8405" y="2751021"/>
            <a:ext cx="4569646" cy="8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Income &amp; Expense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8405" y="3682730"/>
            <a:ext cx="7375595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ual and automated transaction entry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Smart categorization with ML suggestions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Receipt attachment and storage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68405" y="5563496"/>
            <a:ext cx="6437842" cy="8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Budget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8405" y="6496435"/>
            <a:ext cx="7375595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egional tax calculation based on location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Quarterly tax payment reminders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Deduction optimization suggestions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392516" y="1269735"/>
            <a:ext cx="1586922" cy="1334733"/>
            <a:chOff x="0" y="0"/>
            <a:chExt cx="2115896" cy="1779644"/>
          </a:xfrm>
        </p:grpSpPr>
        <p:grpSp>
          <p:nvGrpSpPr>
            <p:cNvPr name="Group 16" id="16"/>
            <p:cNvGrpSpPr/>
            <p:nvPr/>
          </p:nvGrpSpPr>
          <p:grpSpPr>
            <a:xfrm rot="5400000">
              <a:off x="168126" y="0"/>
              <a:ext cx="1779644" cy="1779644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241182"/>
              <a:ext cx="2115896" cy="1192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9"/>
                </a:lnSpc>
              </a:pPr>
              <a:r>
                <a:rPr lang="en-US" sz="5383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22546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00210" y="2749851"/>
            <a:ext cx="6134277" cy="61342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00210" y="2066886"/>
            <a:ext cx="6134277" cy="61342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4931" t="0" r="-2493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68405" y="2208921"/>
            <a:ext cx="5557812" cy="8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Tax Estimation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8405" y="3256160"/>
            <a:ext cx="8460280" cy="266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o-calculates estimated tax based on income and deductions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updates for tax slab and policy changes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Forecasts annual tax liability with visualization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68405" y="6587085"/>
            <a:ext cx="8460280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Add,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edit, and delete transactions seamlessly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View categorized expense and income summaries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Export transaction history in multiple formats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68405" y="5539846"/>
            <a:ext cx="3687797" cy="8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Transactions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22546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00210" y="2749851"/>
            <a:ext cx="6134277" cy="61342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00210" y="2066886"/>
            <a:ext cx="6134277" cy="61342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9086" t="0" r="-3908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68405" y="2329634"/>
            <a:ext cx="2029364" cy="8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8405" y="3376872"/>
            <a:ext cx="7827468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Gene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rate detailed monthly and yearly reports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charts and analytics dashboard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Downloadable PDF/Excel summary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68405" y="6404468"/>
            <a:ext cx="8460280" cy="161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Secu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 profile creation and authentication</a:t>
            </a:r>
          </a:p>
          <a:p>
            <a:pPr algn="l" marL="647700" indent="-323850" lvl="1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Customizable preferences 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68405" y="5357229"/>
            <a:ext cx="7827468" cy="86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Settings Profile &amp; Category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2" y="1717521"/>
            <a:ext cx="6376662" cy="6376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767" y="1195545"/>
            <a:ext cx="7594311" cy="75943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29553" y="5898060"/>
            <a:ext cx="1371267" cy="1371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29553" y="3355052"/>
            <a:ext cx="1371267" cy="13712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384082" y="3666748"/>
            <a:ext cx="662210" cy="747875"/>
          </a:xfrm>
          <a:custGeom>
            <a:avLst/>
            <a:gdLst/>
            <a:ahLst/>
            <a:cxnLst/>
            <a:rect r="r" b="b" t="t" l="l"/>
            <a:pathLst>
              <a:path h="747875" w="662210">
                <a:moveTo>
                  <a:pt x="0" y="0"/>
                </a:moveTo>
                <a:lnTo>
                  <a:pt x="662209" y="0"/>
                </a:lnTo>
                <a:lnTo>
                  <a:pt x="662209" y="747875"/>
                </a:lnTo>
                <a:lnTo>
                  <a:pt x="0" y="747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339832" y="6223409"/>
            <a:ext cx="750709" cy="737060"/>
          </a:xfrm>
          <a:custGeom>
            <a:avLst/>
            <a:gdLst/>
            <a:ahLst/>
            <a:cxnLst/>
            <a:rect r="r" b="b" t="t" l="l"/>
            <a:pathLst>
              <a:path h="737060" w="750709">
                <a:moveTo>
                  <a:pt x="0" y="0"/>
                </a:moveTo>
                <a:lnTo>
                  <a:pt x="750709" y="0"/>
                </a:lnTo>
                <a:lnTo>
                  <a:pt x="750709" y="737059"/>
                </a:lnTo>
                <a:lnTo>
                  <a:pt x="0" y="737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44792" y="3716669"/>
            <a:ext cx="5670261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REGISTRATION &amp; ACCESS CONTROL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31083" y="3231227"/>
            <a:ext cx="4718019" cy="122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3374" b="true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REGISTRATION</a:t>
            </a:r>
          </a:p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848423" y="3926385"/>
            <a:ext cx="6015843" cy="161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lows new users to sign up securely with verified email authentication.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831083" y="5774235"/>
            <a:ext cx="4558123" cy="63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FEATURES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31083" y="6477639"/>
            <a:ext cx="6015843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JWT t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oken authentication, encrypted password storage, and secure session management</a:t>
            </a:r>
          </a:p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56821" y="75452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5727" t="0" r="-157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086541" y="0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09196" y="15648"/>
            <a:ext cx="12010783" cy="10400796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64277" y="-871079"/>
            <a:ext cx="1683983" cy="2405689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417309" y="1645890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6480591" y="8837304"/>
            <a:ext cx="841991" cy="8419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63544" y="7799071"/>
            <a:ext cx="2374761" cy="3392515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083684" y="4510141"/>
            <a:ext cx="1234933" cy="1380514"/>
          </a:xfrm>
          <a:custGeom>
            <a:avLst/>
            <a:gdLst/>
            <a:ahLst/>
            <a:cxnLst/>
            <a:rect r="r" b="b" t="t" l="l"/>
            <a:pathLst>
              <a:path h="1380514" w="1234933">
                <a:moveTo>
                  <a:pt x="0" y="0"/>
                </a:moveTo>
                <a:lnTo>
                  <a:pt x="1234933" y="0"/>
                </a:lnTo>
                <a:lnTo>
                  <a:pt x="1234933" y="1380514"/>
                </a:lnTo>
                <a:lnTo>
                  <a:pt x="0" y="1380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377215" y="4159835"/>
            <a:ext cx="558778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CHALLENGES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77215" y="5211532"/>
            <a:ext cx="8461089" cy="161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spc="294">
                <a:solidFill>
                  <a:srgbClr val="F5FFF5"/>
                </a:solidFill>
                <a:latin typeface="Calibri (MS)"/>
                <a:ea typeface="Calibri (MS)"/>
                <a:cs typeface="Calibri (MS)"/>
                <a:sym typeface="Calibri (MS)"/>
              </a:rPr>
              <a:t>TaxPal faces challenges in maintaining data accuracy, enhancing user experience, and optimizing system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79537" y="1028700"/>
            <a:ext cx="2084369" cy="2084369"/>
            <a:chOff x="0" y="0"/>
            <a:chExt cx="2779158" cy="277915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79158" cy="277915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  <a:ln w="95250" cap="sq">
                <a:solidFill>
                  <a:srgbClr val="051D4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745122" y="521573"/>
              <a:ext cx="1288914" cy="1638933"/>
            </a:xfrm>
            <a:custGeom>
              <a:avLst/>
              <a:gdLst/>
              <a:ahLst/>
              <a:cxnLst/>
              <a:rect r="r" b="b" t="t" l="l"/>
              <a:pathLst>
                <a:path h="1638933" w="1288914">
                  <a:moveTo>
                    <a:pt x="0" y="0"/>
                  </a:moveTo>
                  <a:lnTo>
                    <a:pt x="1288914" y="0"/>
                  </a:lnTo>
                  <a:lnTo>
                    <a:pt x="1288914" y="1638934"/>
                  </a:lnTo>
                  <a:lnTo>
                    <a:pt x="0" y="1638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82522" y="1028700"/>
            <a:ext cx="2019398" cy="201939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4158" lIns="44158" bIns="44158" rIns="44158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1816" y="4836908"/>
            <a:ext cx="2084369" cy="2084369"/>
            <a:chOff x="0" y="0"/>
            <a:chExt cx="2779158" cy="277915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779158" cy="2779158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  <a:ln w="95250" cap="sq">
                <a:solidFill>
                  <a:srgbClr val="051D4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45579" lIns="45579" bIns="45579" rIns="45579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637960" y="737857"/>
              <a:ext cx="1503238" cy="1503238"/>
            </a:xfrm>
            <a:custGeom>
              <a:avLst/>
              <a:gdLst/>
              <a:ahLst/>
              <a:cxnLst/>
              <a:rect r="r" b="b" t="t" l="l"/>
              <a:pathLst>
                <a:path h="1503238" w="1503238">
                  <a:moveTo>
                    <a:pt x="0" y="0"/>
                  </a:moveTo>
                  <a:lnTo>
                    <a:pt x="1503238" y="0"/>
                  </a:lnTo>
                  <a:lnTo>
                    <a:pt x="1503238" y="1503238"/>
                  </a:lnTo>
                  <a:lnTo>
                    <a:pt x="0" y="1503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4456942" y="1403120"/>
            <a:ext cx="1270558" cy="1270558"/>
          </a:xfrm>
          <a:custGeom>
            <a:avLst/>
            <a:gdLst/>
            <a:ahLst/>
            <a:cxnLst/>
            <a:rect r="r" b="b" t="t" l="l"/>
            <a:pathLst>
              <a:path h="1270558" w="1270558">
                <a:moveTo>
                  <a:pt x="0" y="0"/>
                </a:moveTo>
                <a:lnTo>
                  <a:pt x="1270558" y="0"/>
                </a:lnTo>
                <a:lnTo>
                  <a:pt x="1270558" y="1270558"/>
                </a:lnTo>
                <a:lnTo>
                  <a:pt x="0" y="12705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3287380"/>
            <a:ext cx="4986044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ACCURACY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217225"/>
            <a:ext cx="4686843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aintaining precise tax and transaction calculations for error-free reports.</a:t>
            </a:r>
          </a:p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309010" y="3298527"/>
            <a:ext cx="4950290" cy="146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PERFORMANCE OPTIMIZATION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72457" y="4840827"/>
            <a:ext cx="4686843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Han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dling large transaction volumes efficiently without system lag.</a:t>
            </a:r>
          </a:p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672709" y="7105898"/>
            <a:ext cx="2942583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UX DESIGN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0578" y="7996483"/>
            <a:ext cx="4686843" cy="2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0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esigning a clean, intuitive interface for easy navigation and trust.</a:t>
            </a:r>
          </a:p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77100" y="3531559"/>
            <a:ext cx="721898" cy="1044852"/>
          </a:xfrm>
          <a:custGeom>
            <a:avLst/>
            <a:gdLst/>
            <a:ahLst/>
            <a:cxnLst/>
            <a:rect r="r" b="b" t="t" l="l"/>
            <a:pathLst>
              <a:path h="1044852" w="721898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884481" y="8782190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t="0" r="-12621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2568464" y="8361195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t="0" r="-12621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4967824" y="2865972"/>
            <a:ext cx="1331174" cy="1331174"/>
          </a:xfrm>
          <a:custGeom>
            <a:avLst/>
            <a:gdLst/>
            <a:ahLst/>
            <a:cxnLst/>
            <a:rect r="r" b="b" t="t" l="l"/>
            <a:pathLst>
              <a:path h="1331174" w="1331174">
                <a:moveTo>
                  <a:pt x="0" y="0"/>
                </a:moveTo>
                <a:lnTo>
                  <a:pt x="1331174" y="0"/>
                </a:lnTo>
                <a:lnTo>
                  <a:pt x="1331174" y="1331174"/>
                </a:lnTo>
                <a:lnTo>
                  <a:pt x="0" y="13311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489913" y="2776748"/>
            <a:ext cx="1420398" cy="1420398"/>
          </a:xfrm>
          <a:custGeom>
            <a:avLst/>
            <a:gdLst/>
            <a:ahLst/>
            <a:cxnLst/>
            <a:rect r="r" b="b" t="t" l="l"/>
            <a:pathLst>
              <a:path h="1420398" w="1420398">
                <a:moveTo>
                  <a:pt x="0" y="0"/>
                </a:moveTo>
                <a:lnTo>
                  <a:pt x="1420398" y="0"/>
                </a:lnTo>
                <a:lnTo>
                  <a:pt x="1420398" y="1420398"/>
                </a:lnTo>
                <a:lnTo>
                  <a:pt x="0" y="1420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025788" y="1457241"/>
            <a:ext cx="846876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&amp; SOLUTIONS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91123" y="5126414"/>
            <a:ext cx="3202891" cy="308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Tax estimation errors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Slow report generation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Confusing UX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 issues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 security risks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Profile management</a:t>
            </a:r>
          </a:p>
          <a:p>
            <a:pPr algn="ctr">
              <a:lnSpc>
                <a:spcPts val="3035"/>
              </a:lnSpc>
            </a:pPr>
          </a:p>
          <a:p>
            <a:pPr algn="ctr" marL="0" indent="0" lvl="0">
              <a:lnSpc>
                <a:spcPts val="303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4608301" y="4471636"/>
            <a:ext cx="2368534" cy="50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61840" y="5126414"/>
            <a:ext cx="3176839" cy="308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calculations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reports 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Simplified interface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optimization 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authentication</a:t>
            </a:r>
          </a:p>
          <a:p>
            <a:pPr algn="l" marL="474979" indent="-237490" lvl="1">
              <a:lnSpc>
                <a:spcPts val="3035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Easy-to-update profile settings</a:t>
            </a:r>
          </a:p>
          <a:p>
            <a:pPr algn="ctr">
              <a:lnSpc>
                <a:spcPts val="303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489913" y="4471636"/>
            <a:ext cx="1765153" cy="50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648597" y="4576411"/>
            <a:ext cx="100784" cy="3410209"/>
            <a:chOff x="0" y="0"/>
            <a:chExt cx="26544" cy="89816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544" cy="898162"/>
            </a:xfrm>
            <a:custGeom>
              <a:avLst/>
              <a:gdLst/>
              <a:ahLst/>
              <a:cxnLst/>
              <a:rect r="r" b="b" t="t" l="l"/>
              <a:pathLst>
                <a:path h="898162" w="26544">
                  <a:moveTo>
                    <a:pt x="0" y="0"/>
                  </a:moveTo>
                  <a:lnTo>
                    <a:pt x="26544" y="0"/>
                  </a:lnTo>
                  <a:lnTo>
                    <a:pt x="26544" y="898162"/>
                  </a:lnTo>
                  <a:lnTo>
                    <a:pt x="0" y="89816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6544" cy="94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18945" y="4576411"/>
            <a:ext cx="100784" cy="3410209"/>
            <a:chOff x="0" y="0"/>
            <a:chExt cx="26544" cy="8981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44" cy="898162"/>
            </a:xfrm>
            <a:custGeom>
              <a:avLst/>
              <a:gdLst/>
              <a:ahLst/>
              <a:cxnLst/>
              <a:rect r="r" b="b" t="t" l="l"/>
              <a:pathLst>
                <a:path h="898162" w="26544">
                  <a:moveTo>
                    <a:pt x="0" y="0"/>
                  </a:moveTo>
                  <a:lnTo>
                    <a:pt x="26544" y="0"/>
                  </a:lnTo>
                  <a:lnTo>
                    <a:pt x="26544" y="898162"/>
                  </a:lnTo>
                  <a:lnTo>
                    <a:pt x="0" y="89816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6544" cy="94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888675" y="4576411"/>
            <a:ext cx="100784" cy="3410209"/>
            <a:chOff x="0" y="0"/>
            <a:chExt cx="26544" cy="8981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544" cy="898162"/>
            </a:xfrm>
            <a:custGeom>
              <a:avLst/>
              <a:gdLst/>
              <a:ahLst/>
              <a:cxnLst/>
              <a:rect r="r" b="b" t="t" l="l"/>
              <a:pathLst>
                <a:path h="898162" w="26544">
                  <a:moveTo>
                    <a:pt x="0" y="0"/>
                  </a:moveTo>
                  <a:lnTo>
                    <a:pt x="26544" y="0"/>
                  </a:lnTo>
                  <a:lnTo>
                    <a:pt x="26544" y="898162"/>
                  </a:lnTo>
                  <a:lnTo>
                    <a:pt x="0" y="89816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6544" cy="94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2" y="1717521"/>
            <a:ext cx="6376662" cy="6376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767" y="1195545"/>
            <a:ext cx="7594311" cy="75943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68447" y="3772233"/>
            <a:ext cx="1371267" cy="1371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868447" y="2066886"/>
            <a:ext cx="1371267" cy="13712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82311" y="3556635"/>
            <a:ext cx="5280342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CHALLENGES WERE ADDRESSED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868447" y="7215001"/>
            <a:ext cx="1371267" cy="137126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68447" y="5493617"/>
            <a:ext cx="1371267" cy="137126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830264" y="2034810"/>
            <a:ext cx="6429036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TAX ESTIMATION ACCURACY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1083" y="2743311"/>
            <a:ext cx="6015843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Impl</a:t>
            </a:r>
            <a:r>
              <a:rPr lang="en-US" sz="23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emented formula-based calculators with real-time tax rule updates.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30264" y="3779081"/>
            <a:ext cx="6428217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TRANSACTION MANAGEMENT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1083" y="4494906"/>
            <a:ext cx="6015843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</a:t>
            </a:r>
            <a:r>
              <a:rPr lang="en-US" sz="23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uilt a dashboard to track, filter, and categorize all tax payments.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31083" y="5489024"/>
            <a:ext cx="5774866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EXPERIENCE (UX)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30264" y="7206418"/>
            <a:ext cx="6016662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b="true" sz="3999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PERFORMANCE &amp; SPEED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31083" y="7921746"/>
            <a:ext cx="6015843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</a:t>
            </a:r>
            <a:r>
              <a:rPr lang="en-US" sz="23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ed backend using caching, asynchronous processing, and efficient database queries.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31083" y="6212690"/>
            <a:ext cx="6616857" cy="4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4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Simplifi</a:t>
            </a:r>
            <a:r>
              <a:rPr lang="en-US" sz="2300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ed UI with step-by-step workflows and tooltips.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247765" y="2410643"/>
            <a:ext cx="622836" cy="683752"/>
          </a:xfrm>
          <a:custGeom>
            <a:avLst/>
            <a:gdLst/>
            <a:ahLst/>
            <a:cxnLst/>
            <a:rect r="r" b="b" t="t" l="l"/>
            <a:pathLst>
              <a:path h="683752" w="622836">
                <a:moveTo>
                  <a:pt x="0" y="0"/>
                </a:moveTo>
                <a:lnTo>
                  <a:pt x="622836" y="0"/>
                </a:lnTo>
                <a:lnTo>
                  <a:pt x="622836" y="683752"/>
                </a:lnTo>
                <a:lnTo>
                  <a:pt x="0" y="683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237560" y="4089643"/>
            <a:ext cx="633040" cy="643572"/>
          </a:xfrm>
          <a:custGeom>
            <a:avLst/>
            <a:gdLst/>
            <a:ahLst/>
            <a:cxnLst/>
            <a:rect r="r" b="b" t="t" l="l"/>
            <a:pathLst>
              <a:path h="643572" w="633040">
                <a:moveTo>
                  <a:pt x="0" y="0"/>
                </a:moveTo>
                <a:lnTo>
                  <a:pt x="633041" y="0"/>
                </a:lnTo>
                <a:lnTo>
                  <a:pt x="633041" y="643572"/>
                </a:lnTo>
                <a:lnTo>
                  <a:pt x="0" y="643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144000" y="7711372"/>
            <a:ext cx="813013" cy="378526"/>
          </a:xfrm>
          <a:custGeom>
            <a:avLst/>
            <a:gdLst/>
            <a:ahLst/>
            <a:cxnLst/>
            <a:rect r="r" b="b" t="t" l="l"/>
            <a:pathLst>
              <a:path h="378526" w="813013">
                <a:moveTo>
                  <a:pt x="0" y="0"/>
                </a:moveTo>
                <a:lnTo>
                  <a:pt x="813013" y="0"/>
                </a:lnTo>
                <a:lnTo>
                  <a:pt x="813013" y="378526"/>
                </a:lnTo>
                <a:lnTo>
                  <a:pt x="0" y="3785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8815564" y="5442000"/>
            <a:ext cx="1469886" cy="1469886"/>
            <a:chOff x="0" y="0"/>
            <a:chExt cx="1959848" cy="1959848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959848" cy="195984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  <a:ln w="95250" cap="sq">
                <a:solidFill>
                  <a:srgbClr val="051D4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45579" lIns="45579" bIns="45579" rIns="45579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449886" y="520333"/>
              <a:ext cx="1060075" cy="1060075"/>
            </a:xfrm>
            <a:custGeom>
              <a:avLst/>
              <a:gdLst/>
              <a:ahLst/>
              <a:cxnLst/>
              <a:rect r="r" b="b" t="t" l="l"/>
              <a:pathLst>
                <a:path h="1060075" w="1060075">
                  <a:moveTo>
                    <a:pt x="0" y="0"/>
                  </a:moveTo>
                  <a:lnTo>
                    <a:pt x="1060075" y="0"/>
                  </a:lnTo>
                  <a:lnTo>
                    <a:pt x="1060075" y="1060075"/>
                  </a:lnTo>
                  <a:lnTo>
                    <a:pt x="0" y="1060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09747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204505" y="4200979"/>
            <a:ext cx="11750605" cy="5113820"/>
          </a:xfrm>
          <a:custGeom>
            <a:avLst/>
            <a:gdLst/>
            <a:ahLst/>
            <a:cxnLst/>
            <a:rect r="r" b="b" t="t" l="l"/>
            <a:pathLst>
              <a:path h="5113820" w="11750605">
                <a:moveTo>
                  <a:pt x="0" y="0"/>
                </a:moveTo>
                <a:lnTo>
                  <a:pt x="11750605" y="0"/>
                </a:lnTo>
                <a:lnTo>
                  <a:pt x="11750605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88" r="0" b="-198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570" y="3376404"/>
            <a:ext cx="125699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Sign 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39767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85784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493371" y="4200987"/>
            <a:ext cx="11654317" cy="5057313"/>
          </a:xfrm>
          <a:custGeom>
            <a:avLst/>
            <a:gdLst/>
            <a:ahLst/>
            <a:cxnLst/>
            <a:rect r="r" b="b" t="t" l="l"/>
            <a:pathLst>
              <a:path h="5057313" w="11654317">
                <a:moveTo>
                  <a:pt x="0" y="0"/>
                </a:moveTo>
                <a:lnTo>
                  <a:pt x="11654316" y="0"/>
                </a:lnTo>
                <a:lnTo>
                  <a:pt x="11654316" y="5057313"/>
                </a:lnTo>
                <a:lnTo>
                  <a:pt x="0" y="5057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62" r="0" b="-156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570" y="3376404"/>
            <a:ext cx="151187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Sign 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39767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09747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493371" y="4267945"/>
            <a:ext cx="11285004" cy="5106464"/>
          </a:xfrm>
          <a:custGeom>
            <a:avLst/>
            <a:gdLst/>
            <a:ahLst/>
            <a:cxnLst/>
            <a:rect r="r" b="b" t="t" l="l"/>
            <a:pathLst>
              <a:path h="5106464" w="11285004">
                <a:moveTo>
                  <a:pt x="0" y="0"/>
                </a:moveTo>
                <a:lnTo>
                  <a:pt x="11285004" y="0"/>
                </a:lnTo>
                <a:lnTo>
                  <a:pt x="11285004" y="5106464"/>
                </a:lnTo>
                <a:lnTo>
                  <a:pt x="0" y="5106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570" y="3376404"/>
            <a:ext cx="206277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39767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09747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493371" y="4496545"/>
            <a:ext cx="11301259" cy="5113820"/>
          </a:xfrm>
          <a:custGeom>
            <a:avLst/>
            <a:gdLst/>
            <a:ahLst/>
            <a:cxnLst/>
            <a:rect r="r" b="b" t="t" l="l"/>
            <a:pathLst>
              <a:path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19"/>
                </a:lnTo>
                <a:lnTo>
                  <a:pt x="0" y="511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26651" y="3346877"/>
            <a:ext cx="227039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39767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09747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493371" y="4267945"/>
            <a:ext cx="11301259" cy="5113820"/>
          </a:xfrm>
          <a:custGeom>
            <a:avLst/>
            <a:gdLst/>
            <a:ahLst/>
            <a:cxnLst/>
            <a:rect r="r" b="b" t="t" l="l"/>
            <a:pathLst>
              <a:path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19"/>
                </a:lnTo>
                <a:lnTo>
                  <a:pt x="0" y="511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26705" y="3346877"/>
            <a:ext cx="193333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Budgeting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40529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09747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669899" y="4267945"/>
            <a:ext cx="11301259" cy="5113820"/>
          </a:xfrm>
          <a:custGeom>
            <a:avLst/>
            <a:gdLst/>
            <a:ahLst/>
            <a:cxnLst/>
            <a:rect r="r" b="b" t="t" l="l"/>
            <a:pathLst>
              <a:path h="5113820" w="11301259">
                <a:moveTo>
                  <a:pt x="0" y="0"/>
                </a:moveTo>
                <a:lnTo>
                  <a:pt x="11301259" y="0"/>
                </a:lnTo>
                <a:lnTo>
                  <a:pt x="11301259" y="5113819"/>
                </a:lnTo>
                <a:lnTo>
                  <a:pt x="0" y="511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570" y="3376404"/>
            <a:ext cx="2622273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Tax Estimator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39767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09747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493371" y="4267945"/>
            <a:ext cx="11301259" cy="5127946"/>
          </a:xfrm>
          <a:custGeom>
            <a:avLst/>
            <a:gdLst/>
            <a:ahLst/>
            <a:cxnLst/>
            <a:rect r="r" b="b" t="t" l="l"/>
            <a:pathLst>
              <a:path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570" y="3376404"/>
            <a:ext cx="2410563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Tax Calender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39767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0094" y="-2409747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86637" y="3212865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9373" y="3289065"/>
            <a:ext cx="928944" cy="911914"/>
            <a:chOff x="0" y="0"/>
            <a:chExt cx="1238592" cy="12158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706" y="0"/>
              <a:ext cx="1215886" cy="12158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5949"/>
              <a:ext cx="1173371" cy="9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26"/>
                </a:lnSpc>
                <a:spcBef>
                  <a:spcPct val="0"/>
                </a:spcBef>
              </a:pPr>
              <a:r>
                <a:rPr lang="en-US" b="true" sz="4004">
                  <a:solidFill>
                    <a:srgbClr val="051D40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08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204505" y="4267945"/>
            <a:ext cx="11301259" cy="5113820"/>
          </a:xfrm>
          <a:custGeom>
            <a:avLst/>
            <a:gdLst/>
            <a:ahLst/>
            <a:cxnLst/>
            <a:rect r="r" b="b" t="t" l="l"/>
            <a:pathLst>
              <a:path h="5113820" w="11301259">
                <a:moveTo>
                  <a:pt x="0" y="0"/>
                </a:moveTo>
                <a:lnTo>
                  <a:pt x="11301259" y="0"/>
                </a:lnTo>
                <a:lnTo>
                  <a:pt x="11301259" y="5113819"/>
                </a:lnTo>
                <a:lnTo>
                  <a:pt x="0" y="5113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6637" y="4762954"/>
            <a:ext cx="880028" cy="68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26"/>
              </a:lnSpc>
              <a:spcBef>
                <a:spcPct val="0"/>
              </a:spcBef>
            </a:pPr>
            <a:r>
              <a:rPr lang="en-US" b="true" sz="4004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388184"/>
            <a:ext cx="894139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MOCKUPS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570" y="3384025"/>
            <a:ext cx="151187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373" y="2405299"/>
            <a:ext cx="91186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Showcase screenshots of key UI components: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9962" y="1452185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t="0" r="-13317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9962" y="0"/>
            <a:ext cx="7569105" cy="7868257"/>
            <a:chOff x="0" y="0"/>
            <a:chExt cx="6108573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t="0" r="-2801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79554" y="3663916"/>
            <a:ext cx="1728892" cy="1728892"/>
            <a:chOff x="0" y="0"/>
            <a:chExt cx="2305189" cy="230518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305189" cy="230518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  <a:ln w="200025" cap="sq">
                <a:solidFill>
                  <a:srgbClr val="051D4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554031" y="428024"/>
              <a:ext cx="1184178" cy="1310458"/>
            </a:xfrm>
            <a:custGeom>
              <a:avLst/>
              <a:gdLst/>
              <a:ahLst/>
              <a:cxnLst/>
              <a:rect r="r" b="b" t="t" l="l"/>
              <a:pathLst>
                <a:path h="1310458" w="1184178">
                  <a:moveTo>
                    <a:pt x="0" y="0"/>
                  </a:moveTo>
                  <a:lnTo>
                    <a:pt x="1184178" y="0"/>
                  </a:lnTo>
                  <a:lnTo>
                    <a:pt x="1184178" y="1310458"/>
                  </a:lnTo>
                  <a:lnTo>
                    <a:pt x="0" y="131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56096" y="3947337"/>
            <a:ext cx="751505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OUTCOMES &amp; IMPACTS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1627" y="5010150"/>
            <a:ext cx="5875493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 </a:t>
            </a:r>
            <a:r>
              <a:rPr lang="en-US" sz="3499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overview of the benefits and tangible changes brought about by TaxPal implementation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7259300" y="1197451"/>
            <a:ext cx="5246522" cy="7495031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22986" y="1512009"/>
            <a:ext cx="1456246" cy="1224824"/>
            <a:chOff x="0" y="0"/>
            <a:chExt cx="1941661" cy="1633098"/>
          </a:xfrm>
        </p:grpSpPr>
        <p:grpSp>
          <p:nvGrpSpPr>
            <p:cNvPr name="Group 9" id="9"/>
            <p:cNvGrpSpPr/>
            <p:nvPr/>
          </p:nvGrpSpPr>
          <p:grpSpPr>
            <a:xfrm rot="5400000">
              <a:off x="154281" y="0"/>
              <a:ext cx="1633098" cy="163309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26211" t="0" r="-126211" b="0"/>
                </a:stretch>
              </a:blip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222219"/>
              <a:ext cx="1941661" cy="1093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17"/>
                </a:lnSpc>
              </a:pPr>
              <a:r>
                <a:rPr lang="en-US" sz="4940" b="true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04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488469" y="1638646"/>
            <a:ext cx="381027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88469" y="3004766"/>
            <a:ext cx="976347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500+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94975" y="4693477"/>
            <a:ext cx="81610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95%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69896" y="6114179"/>
            <a:ext cx="94118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75%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1673" y="7654372"/>
            <a:ext cx="93940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92%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94975" y="3568322"/>
            <a:ext cx="193968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Beta Users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94975" y="5233197"/>
            <a:ext cx="260674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69896" y="6655199"/>
            <a:ext cx="2189841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Time Saved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71673" y="8195392"/>
            <a:ext cx="310714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User Satisfaction 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20759" y="1870850"/>
            <a:ext cx="7386256" cy="7374792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 rot="0">
            <a:off x="2003667" y="3138116"/>
            <a:ext cx="1060249" cy="106024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03667" y="4655408"/>
            <a:ext cx="1060249" cy="106024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03667" y="6172699"/>
            <a:ext cx="1060249" cy="106024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03667" y="7723787"/>
            <a:ext cx="1060249" cy="106024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2347868" y="3466016"/>
            <a:ext cx="371848" cy="404449"/>
          </a:xfrm>
          <a:custGeom>
            <a:avLst/>
            <a:gdLst/>
            <a:ahLst/>
            <a:cxnLst/>
            <a:rect r="r" b="b" t="t" l="l"/>
            <a:pathLst>
              <a:path h="404449" w="371848">
                <a:moveTo>
                  <a:pt x="0" y="0"/>
                </a:moveTo>
                <a:lnTo>
                  <a:pt x="371847" y="0"/>
                </a:lnTo>
                <a:lnTo>
                  <a:pt x="371847" y="404449"/>
                </a:lnTo>
                <a:lnTo>
                  <a:pt x="0" y="404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403839" y="6496707"/>
            <a:ext cx="259905" cy="401538"/>
          </a:xfrm>
          <a:custGeom>
            <a:avLst/>
            <a:gdLst/>
            <a:ahLst/>
            <a:cxnLst/>
            <a:rect r="r" b="b" t="t" l="l"/>
            <a:pathLst>
              <a:path h="401538" w="259905">
                <a:moveTo>
                  <a:pt x="0" y="0"/>
                </a:moveTo>
                <a:lnTo>
                  <a:pt x="259905" y="0"/>
                </a:lnTo>
                <a:lnTo>
                  <a:pt x="259905" y="401538"/>
                </a:lnTo>
                <a:lnTo>
                  <a:pt x="0" y="401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298885" y="5016955"/>
            <a:ext cx="452281" cy="337155"/>
          </a:xfrm>
          <a:custGeom>
            <a:avLst/>
            <a:gdLst/>
            <a:ahLst/>
            <a:cxnLst/>
            <a:rect r="r" b="b" t="t" l="l"/>
            <a:pathLst>
              <a:path h="337155" w="452281">
                <a:moveTo>
                  <a:pt x="0" y="0"/>
                </a:moveTo>
                <a:lnTo>
                  <a:pt x="452280" y="0"/>
                </a:lnTo>
                <a:lnTo>
                  <a:pt x="452280" y="337155"/>
                </a:lnTo>
                <a:lnTo>
                  <a:pt x="0" y="3371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274793" y="7994914"/>
            <a:ext cx="517996" cy="517996"/>
          </a:xfrm>
          <a:custGeom>
            <a:avLst/>
            <a:gdLst/>
            <a:ahLst/>
            <a:cxnLst/>
            <a:rect r="r" b="b" t="t" l="l"/>
            <a:pathLst>
              <a:path h="517996" w="517996">
                <a:moveTo>
                  <a:pt x="0" y="0"/>
                </a:moveTo>
                <a:lnTo>
                  <a:pt x="517996" y="0"/>
                </a:lnTo>
                <a:lnTo>
                  <a:pt x="517996" y="517996"/>
                </a:lnTo>
                <a:lnTo>
                  <a:pt x="0" y="517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976691" y="-56898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239506" y="4536335"/>
            <a:ext cx="923288" cy="1260070"/>
          </a:xfrm>
          <a:custGeom>
            <a:avLst/>
            <a:gdLst/>
            <a:ahLst/>
            <a:cxnLst/>
            <a:rect r="r" b="b" t="t" l="l"/>
            <a:pathLst>
              <a:path h="1260070" w="923288">
                <a:moveTo>
                  <a:pt x="0" y="0"/>
                </a:moveTo>
                <a:lnTo>
                  <a:pt x="923288" y="0"/>
                </a:lnTo>
                <a:lnTo>
                  <a:pt x="923288" y="1260070"/>
                </a:lnTo>
                <a:lnTo>
                  <a:pt x="0" y="1260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5400000">
            <a:off x="8339563" y="5040697"/>
            <a:ext cx="518653" cy="403322"/>
            <a:chOff x="0" y="0"/>
            <a:chExt cx="812800" cy="6320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17257"/>
              <a:ext cx="558800" cy="369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8339563" y="2845644"/>
            <a:ext cx="518653" cy="403322"/>
            <a:chOff x="0" y="0"/>
            <a:chExt cx="812800" cy="6320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217257"/>
              <a:ext cx="558800" cy="369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8339563" y="7239870"/>
            <a:ext cx="518653" cy="403322"/>
            <a:chOff x="0" y="0"/>
            <a:chExt cx="812800" cy="6320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17257"/>
              <a:ext cx="558800" cy="369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970215" y="4654166"/>
            <a:ext cx="3200144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ACHIEVEMENT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0215" y="2397726"/>
            <a:ext cx="3200144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MANAGEMENT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70215" y="6791952"/>
            <a:ext cx="2492805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POTENTIAL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74598" y="2423325"/>
            <a:ext cx="4204089" cy="163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Streamlined experience with time savings and financial clarity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74598" y="4566131"/>
            <a:ext cx="4584702" cy="163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Scalable, real-time system supporting multi-regional operations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74598" y="6716884"/>
            <a:ext cx="4584702" cy="215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Expansion-ready platform with AI integration and global reach</a:t>
            </a:r>
          </a:p>
          <a:p>
            <a:pPr algn="l">
              <a:lnSpc>
                <a:spcPts val="4158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676400" y="4661334"/>
            <a:ext cx="32968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7503" y="4855442"/>
            <a:ext cx="1212197" cy="1212197"/>
          </a:xfrm>
          <a:custGeom>
            <a:avLst/>
            <a:gdLst/>
            <a:ahLst/>
            <a:cxnLst/>
            <a:rect r="r" b="b" t="t" l="l"/>
            <a:pathLst>
              <a:path h="1212197" w="1212197">
                <a:moveTo>
                  <a:pt x="0" y="0"/>
                </a:moveTo>
                <a:lnTo>
                  <a:pt x="1212198" y="0"/>
                </a:lnTo>
                <a:lnTo>
                  <a:pt x="1212198" y="1212197"/>
                </a:lnTo>
                <a:lnTo>
                  <a:pt x="0" y="121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63699" y="4644119"/>
            <a:ext cx="1258012" cy="1278940"/>
          </a:xfrm>
          <a:custGeom>
            <a:avLst/>
            <a:gdLst/>
            <a:ahLst/>
            <a:cxnLst/>
            <a:rect r="r" b="b" t="t" l="l"/>
            <a:pathLst>
              <a:path h="1278940" w="1258012">
                <a:moveTo>
                  <a:pt x="0" y="0"/>
                </a:moveTo>
                <a:lnTo>
                  <a:pt x="1258012" y="0"/>
                </a:lnTo>
                <a:lnTo>
                  <a:pt x="1258012" y="1278941"/>
                </a:lnTo>
                <a:lnTo>
                  <a:pt x="0" y="1278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58081" y="1483575"/>
            <a:ext cx="3998716" cy="11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TEAM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6671139" y="1454474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94621" y="1627548"/>
            <a:ext cx="1377861" cy="80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0"/>
              </a:lnSpc>
            </a:pPr>
            <a:r>
              <a:rPr lang="en-US" sz="4674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456730" y="3426723"/>
            <a:ext cx="9374540" cy="6152042"/>
            <a:chOff x="0" y="0"/>
            <a:chExt cx="10160000" cy="6667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1587500" y="0"/>
                  </a:moveTo>
                  <a:cubicBezTo>
                    <a:pt x="2463800" y="0"/>
                    <a:pt x="3175000" y="711200"/>
                    <a:pt x="3175000" y="1587500"/>
                  </a:cubicBezTo>
                  <a:cubicBezTo>
                    <a:pt x="3175000" y="2463800"/>
                    <a:pt x="2463800" y="3175000"/>
                    <a:pt x="1587500" y="3175000"/>
                  </a:cubicBezTo>
                  <a:cubicBezTo>
                    <a:pt x="711200" y="3175000"/>
                    <a:pt x="0" y="2465070"/>
                    <a:pt x="0" y="1587500"/>
                  </a:cubicBezTo>
                  <a:cubicBezTo>
                    <a:pt x="0" y="711200"/>
                    <a:pt x="711200" y="0"/>
                    <a:pt x="15875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49250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1587500" y="0"/>
                  </a:moveTo>
                  <a:cubicBezTo>
                    <a:pt x="2465070" y="0"/>
                    <a:pt x="3175000" y="711200"/>
                    <a:pt x="3175000" y="1587500"/>
                  </a:cubicBezTo>
                  <a:cubicBezTo>
                    <a:pt x="3175000" y="2463800"/>
                    <a:pt x="2463800" y="3175000"/>
                    <a:pt x="1587500" y="3175000"/>
                  </a:cubicBezTo>
                  <a:cubicBezTo>
                    <a:pt x="711200" y="3175000"/>
                    <a:pt x="0" y="2463800"/>
                    <a:pt x="0" y="1587500"/>
                  </a:cubicBezTo>
                  <a:cubicBezTo>
                    <a:pt x="0" y="711200"/>
                    <a:pt x="711200" y="0"/>
                    <a:pt x="15875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98500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1587500" y="0"/>
                  </a:moveTo>
                  <a:cubicBezTo>
                    <a:pt x="2463800" y="0"/>
                    <a:pt x="3175000" y="711200"/>
                    <a:pt x="3175000" y="1587500"/>
                  </a:cubicBezTo>
                  <a:cubicBezTo>
                    <a:pt x="3175000" y="2463800"/>
                    <a:pt x="2463800" y="3175000"/>
                    <a:pt x="1587500" y="3175000"/>
                  </a:cubicBezTo>
                  <a:cubicBezTo>
                    <a:pt x="711200" y="3175000"/>
                    <a:pt x="0" y="2463800"/>
                    <a:pt x="0" y="1587500"/>
                  </a:cubicBezTo>
                  <a:cubicBezTo>
                    <a:pt x="0" y="711200"/>
                    <a:pt x="709930" y="0"/>
                    <a:pt x="15875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-78406" y="3489956"/>
              <a:ext cx="3331812" cy="3180088"/>
            </a:xfrm>
            <a:custGeom>
              <a:avLst/>
              <a:gdLst/>
              <a:ahLst/>
              <a:cxnLst/>
              <a:rect r="r" b="b" t="t" l="l"/>
              <a:pathLst>
                <a:path h="3180088" w="3331812">
                  <a:moveTo>
                    <a:pt x="1665906" y="2544"/>
                  </a:moveTo>
                  <a:cubicBezTo>
                    <a:pt x="1097056" y="0"/>
                    <a:pt x="570324" y="302018"/>
                    <a:pt x="285162" y="794238"/>
                  </a:cubicBezTo>
                  <a:cubicBezTo>
                    <a:pt x="0" y="1286457"/>
                    <a:pt x="0" y="1893631"/>
                    <a:pt x="285162" y="2385850"/>
                  </a:cubicBezTo>
                  <a:cubicBezTo>
                    <a:pt x="570324" y="2878070"/>
                    <a:pt x="1097056" y="3180088"/>
                    <a:pt x="1665906" y="3177544"/>
                  </a:cubicBezTo>
                  <a:cubicBezTo>
                    <a:pt x="2234756" y="3180088"/>
                    <a:pt x="2761488" y="2878070"/>
                    <a:pt x="3046650" y="2385850"/>
                  </a:cubicBezTo>
                  <a:cubicBezTo>
                    <a:pt x="3331812" y="1893631"/>
                    <a:pt x="3331812" y="1286457"/>
                    <a:pt x="3046650" y="794238"/>
                  </a:cubicBezTo>
                  <a:cubicBezTo>
                    <a:pt x="2761488" y="302018"/>
                    <a:pt x="2234756" y="0"/>
                    <a:pt x="1665906" y="254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414094" y="3489956"/>
              <a:ext cx="3331812" cy="3180088"/>
            </a:xfrm>
            <a:custGeom>
              <a:avLst/>
              <a:gdLst/>
              <a:ahLst/>
              <a:cxnLst/>
              <a:rect r="r" b="b" t="t" l="l"/>
              <a:pathLst>
                <a:path h="3180088" w="3331812">
                  <a:moveTo>
                    <a:pt x="1665906" y="2544"/>
                  </a:moveTo>
                  <a:cubicBezTo>
                    <a:pt x="1097055" y="0"/>
                    <a:pt x="570324" y="302018"/>
                    <a:pt x="285162" y="794238"/>
                  </a:cubicBezTo>
                  <a:cubicBezTo>
                    <a:pt x="0" y="1286457"/>
                    <a:pt x="0" y="1893631"/>
                    <a:pt x="285162" y="2385850"/>
                  </a:cubicBezTo>
                  <a:cubicBezTo>
                    <a:pt x="570324" y="2878070"/>
                    <a:pt x="1097055" y="3180088"/>
                    <a:pt x="1665906" y="3177544"/>
                  </a:cubicBezTo>
                  <a:cubicBezTo>
                    <a:pt x="2234757" y="3180088"/>
                    <a:pt x="2761488" y="2878070"/>
                    <a:pt x="3046650" y="2385850"/>
                  </a:cubicBezTo>
                  <a:cubicBezTo>
                    <a:pt x="3331812" y="1893631"/>
                    <a:pt x="3331812" y="1286457"/>
                    <a:pt x="3046650" y="794238"/>
                  </a:cubicBezTo>
                  <a:cubicBezTo>
                    <a:pt x="2761488" y="302018"/>
                    <a:pt x="2234757" y="0"/>
                    <a:pt x="1665906" y="254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985000" y="349250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1587500" y="0"/>
                  </a:moveTo>
                  <a:cubicBezTo>
                    <a:pt x="2463800" y="0"/>
                    <a:pt x="3175000" y="711200"/>
                    <a:pt x="3175000" y="1587500"/>
                  </a:cubicBezTo>
                  <a:cubicBezTo>
                    <a:pt x="3175000" y="2463800"/>
                    <a:pt x="2463800" y="3175000"/>
                    <a:pt x="1587500" y="3175000"/>
                  </a:cubicBezTo>
                  <a:cubicBezTo>
                    <a:pt x="711200" y="3175000"/>
                    <a:pt x="0" y="2463800"/>
                    <a:pt x="0" y="1587500"/>
                  </a:cubicBezTo>
                  <a:cubicBezTo>
                    <a:pt x="0" y="711200"/>
                    <a:pt x="709930" y="0"/>
                    <a:pt x="15875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9962" y="0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27939" t="0" r="-2793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9962" y="1452185"/>
            <a:ext cx="7569105" cy="7868257"/>
            <a:chOff x="0" y="0"/>
            <a:chExt cx="6108573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133175" t="0" r="-13317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44942" y="4105275"/>
            <a:ext cx="3778483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60"/>
              </a:lnSpc>
              <a:spcBef>
                <a:spcPct val="0"/>
              </a:spcBef>
            </a:pPr>
            <a:r>
              <a:rPr lang="en-US" b="true" sz="10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 &amp; 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90195" y="3049848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t="0" r="-13317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90195" y="736179"/>
            <a:ext cx="7569105" cy="7868257"/>
            <a:chOff x="0" y="0"/>
            <a:chExt cx="6108573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t="0" r="-13317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50504" y="3967283"/>
            <a:ext cx="5735021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0"/>
              </a:lnSpc>
            </a:pPr>
            <a:r>
              <a:rPr lang="en-US" b="true" sz="8000" spc="488">
                <a:solidFill>
                  <a:srgbClr val="17E3B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90195" y="-62141"/>
            <a:ext cx="7569105" cy="7868257"/>
            <a:chOff x="0" y="0"/>
            <a:chExt cx="6108573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t="0" r="-2801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90195" y="1390043"/>
            <a:ext cx="7569105" cy="7868257"/>
            <a:chOff x="0" y="0"/>
            <a:chExt cx="6108573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t="0" r="-133175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50504" y="5521469"/>
            <a:ext cx="757025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0"/>
              </a:lnSpc>
              <a:spcBef>
                <a:spcPct val="0"/>
              </a:spcBef>
            </a:pPr>
            <a:r>
              <a:rPr lang="en-US" sz="5000" spc="76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Team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DAG1HQwcYsw</dc:identifier>
  <dcterms:modified xsi:type="dcterms:W3CDTF">2011-08-01T06:04:30Z</dcterms:modified>
  <cp:revision>1</cp:revision>
  <dc:title>Presented by: Team 1</dc:title>
</cp:coreProperties>
</file>